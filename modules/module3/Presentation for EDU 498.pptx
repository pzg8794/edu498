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  <p:sldMasterId id="2147483698" r:id="rId6"/>
    <p:sldMasterId id="2147483699" r:id="rId7"/>
    <p:sldMasterId id="214748370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y="5143500" cx="9144000"/>
  <p:notesSz cx="6858000" cy="9144000"/>
  <p:embeddedFontLst>
    <p:embeddedFont>
      <p:font typeface="Play"/>
      <p:regular r:id="rId21"/>
      <p:bold r:id="rId22"/>
    </p:embeddedFont>
    <p:embeddedFont>
      <p:font typeface="Lustria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F4C427-4FBE-4E88-8977-0B9A24F30C2A}">
  <a:tblStyle styleId="{5FF4C427-4FBE-4E88-8977-0B9A24F30C2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3439717-EA8D-4B99-9DB6-46E3FA05D82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11" Type="http://schemas.openxmlformats.org/officeDocument/2006/relationships/slide" Target="slides/slide2.xml"/><Relationship Id="rId22" Type="http://schemas.openxmlformats.org/officeDocument/2006/relationships/font" Target="fonts/Play-bold.fntdata"/><Relationship Id="rId10" Type="http://schemas.openxmlformats.org/officeDocument/2006/relationships/slide" Target="slides/slide1.xml"/><Relationship Id="rId21" Type="http://schemas.openxmlformats.org/officeDocument/2006/relationships/font" Target="fonts/Play-regular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23" Type="http://schemas.openxmlformats.org/officeDocument/2006/relationships/font" Target="fonts/Lustri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0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9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a75c0464d_0_8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a75c0464d_0_8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a75c0464d_0_6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a75c0464d_0_6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a75c046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a75c046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a75c0464d_0_3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ca75c0464d_0_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a75c0464d_0_9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a75c0464d_0_9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a75c0464d_0_10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ca75c0464d_0_10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a75c0464d_0_14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ca75c0464d_0_14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a75c0464d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a75c0464d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a120f0299_0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a120f0299_0_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ca120f0299_0_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a120f0299_0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ca120f0299_0_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a120f0299_0_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9298091b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c9298091b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1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0" y="1339"/>
            <a:ext cx="9139243" cy="51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751086" y="1965965"/>
            <a:ext cx="56418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400"/>
              <a:buFont typeface="Play"/>
              <a:buNone/>
              <a:defRPr sz="54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"/>
              <a:buNone/>
              <a:defRPr sz="5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FFD8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Header">
  <p:cSld name="6_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9" y="1339"/>
            <a:ext cx="9135541" cy="51408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8"/>
          <p:cNvSpPr txBox="1"/>
          <p:nvPr>
            <p:ph type="title"/>
          </p:nvPr>
        </p:nvSpPr>
        <p:spPr>
          <a:xfrm>
            <a:off x="2508365" y="1965965"/>
            <a:ext cx="4127100" cy="1211700"/>
          </a:xfrm>
          <a:prstGeom prst="rect">
            <a:avLst/>
          </a:prstGeom>
          <a:solidFill>
            <a:srgbClr val="001E5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0" y="1339"/>
            <a:ext cx="9139243" cy="51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/>
          <p:nvPr>
            <p:ph type="title"/>
          </p:nvPr>
        </p:nvSpPr>
        <p:spPr>
          <a:xfrm>
            <a:off x="1751086" y="1965965"/>
            <a:ext cx="56418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400"/>
              <a:buFont typeface="Play"/>
              <a:buNone/>
              <a:defRPr sz="54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0"/>
          <p:cNvPicPr preferRelativeResize="0"/>
          <p:nvPr/>
        </p:nvPicPr>
        <p:blipFill rotWithShape="1">
          <a:blip r:embed="rId2">
            <a:alphaModFix/>
          </a:blip>
          <a:srcRect b="0" l="0" r="10" t="0"/>
          <a:stretch/>
        </p:blipFill>
        <p:spPr>
          <a:xfrm>
            <a:off x="-1" y="0"/>
            <a:ext cx="9144000" cy="514386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/>
          <p:nvPr>
            <p:ph type="title"/>
          </p:nvPr>
        </p:nvSpPr>
        <p:spPr>
          <a:xfrm>
            <a:off x="2127538" y="1351314"/>
            <a:ext cx="4889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623888" y="3565311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39956" y="2616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0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339956" y="1257256"/>
            <a:ext cx="38862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340456" y="1257256"/>
            <a:ext cx="38862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Header">
  <p:cSld name="5_Section 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39"/>
            <a:ext cx="9144003" cy="51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2"/>
          <p:cNvSpPr txBox="1"/>
          <p:nvPr>
            <p:ph type="title"/>
          </p:nvPr>
        </p:nvSpPr>
        <p:spPr>
          <a:xfrm>
            <a:off x="2508365" y="1965965"/>
            <a:ext cx="4127100" cy="12117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4500"/>
              <a:buFont typeface="Play"/>
              <a:buNone/>
              <a:defRPr sz="45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3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Blue text on a black background&#10;&#10;Description automatically generated" id="93" name="Google Shape;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189" y="332133"/>
            <a:ext cx="2718227" cy="976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Blue text on a black background&#10;&#10;Description automatically generated" id="104" name="Google Shape;1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00" y="187210"/>
            <a:ext cx="2718227" cy="976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7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"/>
              <a:buNone/>
              <a:defRPr sz="5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FFD8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sign with white text&#10;&#10;Description automatically generated" id="115" name="Google Shape;1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17" y="343849"/>
            <a:ext cx="2850660" cy="1024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8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"/>
              <a:buNone/>
              <a:defRPr sz="5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FFD8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sign with white text&#10;&#10;Description automatically generated" id="121" name="Google Shape;1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17" y="336395"/>
            <a:ext cx="2850660" cy="1024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>
            <p:ph type="ctrTitle"/>
          </p:nvPr>
        </p:nvSpPr>
        <p:spPr>
          <a:xfrm>
            <a:off x="367917" y="1604798"/>
            <a:ext cx="368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"/>
              <a:buNone/>
              <a:defRPr sz="5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" type="subTitle"/>
          </p:nvPr>
        </p:nvSpPr>
        <p:spPr>
          <a:xfrm>
            <a:off x="367917" y="3464555"/>
            <a:ext cx="324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b="0" i="0" sz="2100">
                <a:solidFill>
                  <a:srgbClr val="FFD8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339956" y="2616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0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39956" y="1255811"/>
            <a:ext cx="78867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1"/>
          <p:cNvPicPr preferRelativeResize="0"/>
          <p:nvPr/>
        </p:nvPicPr>
        <p:blipFill rotWithShape="1">
          <a:blip r:embed="rId2">
            <a:alphaModFix/>
          </a:blip>
          <a:srcRect b="50" l="0" r="0" t="40"/>
          <a:stretch/>
        </p:blipFill>
        <p:spPr>
          <a:xfrm>
            <a:off x="-1" y="0"/>
            <a:ext cx="9144000" cy="5143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266" y="741509"/>
            <a:ext cx="729468" cy="953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1"/>
          <p:cNvSpPr txBox="1"/>
          <p:nvPr>
            <p:ph type="title"/>
          </p:nvPr>
        </p:nvSpPr>
        <p:spPr>
          <a:xfrm>
            <a:off x="2305959" y="1336877"/>
            <a:ext cx="4532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623888" y="3565311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ection Header">
  <p:cSld name="8_Section 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2"/>
          <p:cNvPicPr preferRelativeResize="0"/>
          <p:nvPr/>
        </p:nvPicPr>
        <p:blipFill rotWithShape="1">
          <a:blip r:embed="rId2">
            <a:alphaModFix/>
          </a:blip>
          <a:srcRect b="50" l="0" r="0" t="40"/>
          <a:stretch/>
        </p:blipFill>
        <p:spPr>
          <a:xfrm>
            <a:off x="-1" y="0"/>
            <a:ext cx="9144000" cy="514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2"/>
          <p:cNvSpPr txBox="1"/>
          <p:nvPr>
            <p:ph type="title"/>
          </p:nvPr>
        </p:nvSpPr>
        <p:spPr>
          <a:xfrm>
            <a:off x="2305959" y="1336877"/>
            <a:ext cx="4532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623888" y="3565311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1" name="Google Shape;141;p32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3"/>
          <p:cNvPicPr preferRelativeResize="0"/>
          <p:nvPr/>
        </p:nvPicPr>
        <p:blipFill rotWithShape="1">
          <a:blip r:embed="rId2">
            <a:alphaModFix/>
          </a:blip>
          <a:srcRect b="0" l="0" r="10" t="0"/>
          <a:stretch/>
        </p:blipFill>
        <p:spPr>
          <a:xfrm>
            <a:off x="-1" y="0"/>
            <a:ext cx="9144000" cy="51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266" y="741508"/>
            <a:ext cx="729468" cy="95355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3"/>
          <p:cNvSpPr txBox="1"/>
          <p:nvPr>
            <p:ph type="title"/>
          </p:nvPr>
        </p:nvSpPr>
        <p:spPr>
          <a:xfrm>
            <a:off x="2127538" y="1351314"/>
            <a:ext cx="4889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5000"/>
              <a:buFont typeface="Play"/>
              <a:buNone/>
              <a:defRPr sz="5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" type="body"/>
          </p:nvPr>
        </p:nvSpPr>
        <p:spPr>
          <a:xfrm>
            <a:off x="623888" y="3565311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7" y="1339"/>
            <a:ext cx="9130786" cy="514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4"/>
          <p:cNvSpPr txBox="1"/>
          <p:nvPr>
            <p:ph type="title"/>
          </p:nvPr>
        </p:nvSpPr>
        <p:spPr>
          <a:xfrm>
            <a:off x="1751086" y="1965965"/>
            <a:ext cx="56418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/>
          <p:nvPr>
            <p:ph type="title"/>
          </p:nvPr>
        </p:nvSpPr>
        <p:spPr>
          <a:xfrm>
            <a:off x="339956" y="261639"/>
            <a:ext cx="3886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0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" type="body"/>
          </p:nvPr>
        </p:nvSpPr>
        <p:spPr>
          <a:xfrm>
            <a:off x="339956" y="1257256"/>
            <a:ext cx="3886200" cy="29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35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35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title"/>
          </p:nvPr>
        </p:nvSpPr>
        <p:spPr>
          <a:xfrm>
            <a:off x="339957" y="254420"/>
            <a:ext cx="3999600" cy="10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0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6"/>
          <p:cNvSpPr/>
          <p:nvPr>
            <p:ph idx="2" type="pic"/>
          </p:nvPr>
        </p:nvSpPr>
        <p:spPr>
          <a:xfrm>
            <a:off x="4572000" y="13692"/>
            <a:ext cx="4572000" cy="51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6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background with a blue banner and a book&#10;&#10;AI-generated content may be incorrect." id="171" name="Google Shape;17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86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9"/>
          <p:cNvSpPr txBox="1"/>
          <p:nvPr>
            <p:ph type="ctrTitle"/>
          </p:nvPr>
        </p:nvSpPr>
        <p:spPr>
          <a:xfrm>
            <a:off x="611064" y="1442700"/>
            <a:ext cx="4928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1" type="subTitle"/>
          </p:nvPr>
        </p:nvSpPr>
        <p:spPr>
          <a:xfrm>
            <a:off x="611064" y="3302456"/>
            <a:ext cx="4928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rgbClr val="FFD82D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39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0"/>
          <p:cNvPicPr preferRelativeResize="0"/>
          <p:nvPr/>
        </p:nvPicPr>
        <p:blipFill rotWithShape="1">
          <a:blip r:embed="rId2">
            <a:alphaModFix/>
          </a:blip>
          <a:srcRect b="0" l="20648" r="20911" t="41558"/>
          <a:stretch/>
        </p:blipFill>
        <p:spPr>
          <a:xfrm>
            <a:off x="-1" y="0"/>
            <a:ext cx="9144002" cy="5143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0"/>
          <p:cNvSpPr txBox="1"/>
          <p:nvPr>
            <p:ph type="title"/>
          </p:nvPr>
        </p:nvSpPr>
        <p:spPr>
          <a:xfrm>
            <a:off x="623888" y="57626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40"/>
          <p:cNvSpPr txBox="1"/>
          <p:nvPr>
            <p:ph idx="1" type="body"/>
          </p:nvPr>
        </p:nvSpPr>
        <p:spPr>
          <a:xfrm>
            <a:off x="623888" y="28046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79" name="Google Shape;179;p40"/>
          <p:cNvSpPr txBox="1"/>
          <p:nvPr/>
        </p:nvSpPr>
        <p:spPr>
          <a:xfrm>
            <a:off x="6882941" y="4903702"/>
            <a:ext cx="314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 sz="1100"/>
          </a:p>
        </p:txBody>
      </p:sp>
      <p:sp>
        <p:nvSpPr>
          <p:cNvPr id="180" name="Google Shape;180;p40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bg>
      <p:bgPr>
        <a:solidFill>
          <a:srgbClr val="FFD82D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1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3000"/>
              <a:buFont typeface="Play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41"/>
          <p:cNvSpPr txBox="1"/>
          <p:nvPr>
            <p:ph idx="1" type="body"/>
          </p:nvPr>
        </p:nvSpPr>
        <p:spPr>
          <a:xfrm>
            <a:off x="375781" y="1179079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41"/>
          <p:cNvSpPr txBox="1"/>
          <p:nvPr>
            <p:ph idx="2" type="body"/>
          </p:nvPr>
        </p:nvSpPr>
        <p:spPr>
          <a:xfrm>
            <a:off x="1456150" y="1179079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41"/>
          <p:cNvSpPr txBox="1"/>
          <p:nvPr>
            <p:ph idx="3" type="body"/>
          </p:nvPr>
        </p:nvSpPr>
        <p:spPr>
          <a:xfrm>
            <a:off x="375781" y="1697829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41"/>
          <p:cNvSpPr txBox="1"/>
          <p:nvPr>
            <p:ph idx="4" type="body"/>
          </p:nvPr>
        </p:nvSpPr>
        <p:spPr>
          <a:xfrm>
            <a:off x="1456150" y="1697829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41"/>
          <p:cNvSpPr txBox="1"/>
          <p:nvPr>
            <p:ph idx="5" type="body"/>
          </p:nvPr>
        </p:nvSpPr>
        <p:spPr>
          <a:xfrm>
            <a:off x="375781" y="2216579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41"/>
          <p:cNvSpPr txBox="1"/>
          <p:nvPr>
            <p:ph idx="6" type="body"/>
          </p:nvPr>
        </p:nvSpPr>
        <p:spPr>
          <a:xfrm>
            <a:off x="1456150" y="2216579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41"/>
          <p:cNvSpPr txBox="1"/>
          <p:nvPr>
            <p:ph idx="7" type="body"/>
          </p:nvPr>
        </p:nvSpPr>
        <p:spPr>
          <a:xfrm>
            <a:off x="375781" y="2758980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41"/>
          <p:cNvSpPr txBox="1"/>
          <p:nvPr>
            <p:ph idx="8" type="body"/>
          </p:nvPr>
        </p:nvSpPr>
        <p:spPr>
          <a:xfrm>
            <a:off x="1456150" y="2758980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41"/>
          <p:cNvSpPr txBox="1"/>
          <p:nvPr>
            <p:ph idx="9" type="body"/>
          </p:nvPr>
        </p:nvSpPr>
        <p:spPr>
          <a:xfrm>
            <a:off x="375781" y="3276064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41"/>
          <p:cNvSpPr txBox="1"/>
          <p:nvPr>
            <p:ph idx="13" type="body"/>
          </p:nvPr>
        </p:nvSpPr>
        <p:spPr>
          <a:xfrm>
            <a:off x="1456150" y="3276064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41"/>
          <p:cNvSpPr txBox="1"/>
          <p:nvPr>
            <p:ph idx="14" type="body"/>
          </p:nvPr>
        </p:nvSpPr>
        <p:spPr>
          <a:xfrm>
            <a:off x="375781" y="3818465"/>
            <a:ext cx="87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2100">
                <a:solidFill>
                  <a:srgbClr val="001E5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41"/>
          <p:cNvSpPr txBox="1"/>
          <p:nvPr>
            <p:ph idx="15" type="body"/>
          </p:nvPr>
        </p:nvSpPr>
        <p:spPr>
          <a:xfrm>
            <a:off x="1456150" y="3818465"/>
            <a:ext cx="6839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001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41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goals">
    <p:bg>
      <p:bgPr>
        <a:solidFill>
          <a:srgbClr val="FFF3A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/>
          <p:nvPr/>
        </p:nvSpPr>
        <p:spPr>
          <a:xfrm>
            <a:off x="0" y="0"/>
            <a:ext cx="9144000" cy="5129700"/>
          </a:xfrm>
          <a:prstGeom prst="rect">
            <a:avLst/>
          </a:prstGeom>
          <a:solidFill>
            <a:srgbClr val="013D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2"/>
          <p:cNvSpPr txBox="1"/>
          <p:nvPr>
            <p:ph type="title"/>
          </p:nvPr>
        </p:nvSpPr>
        <p:spPr>
          <a:xfrm>
            <a:off x="339957" y="300457"/>
            <a:ext cx="3319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82D"/>
              </a:buClr>
              <a:buSzPts val="3300"/>
              <a:buFont typeface="Play"/>
              <a:buNone/>
              <a:defRPr sz="3300">
                <a:solidFill>
                  <a:srgbClr val="FFD82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42"/>
          <p:cNvSpPr txBox="1"/>
          <p:nvPr>
            <p:ph idx="1" type="body"/>
          </p:nvPr>
        </p:nvSpPr>
        <p:spPr>
          <a:xfrm>
            <a:off x="3827647" y="284015"/>
            <a:ext cx="51948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00" name="Google Shape;200;p42"/>
          <p:cNvCxnSpPr/>
          <p:nvPr/>
        </p:nvCxnSpPr>
        <p:spPr>
          <a:xfrm>
            <a:off x="0" y="1570964"/>
            <a:ext cx="9382500" cy="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42"/>
          <p:cNvSpPr txBox="1"/>
          <p:nvPr>
            <p:ph idx="2" type="body"/>
          </p:nvPr>
        </p:nvSpPr>
        <p:spPr>
          <a:xfrm>
            <a:off x="339957" y="1829372"/>
            <a:ext cx="52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42"/>
          <p:cNvSpPr txBox="1"/>
          <p:nvPr>
            <p:ph idx="3" type="body"/>
          </p:nvPr>
        </p:nvSpPr>
        <p:spPr>
          <a:xfrm>
            <a:off x="340519" y="2221214"/>
            <a:ext cx="15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42"/>
          <p:cNvSpPr txBox="1"/>
          <p:nvPr>
            <p:ph idx="4" type="body"/>
          </p:nvPr>
        </p:nvSpPr>
        <p:spPr>
          <a:xfrm>
            <a:off x="340519" y="2796430"/>
            <a:ext cx="157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42"/>
          <p:cNvSpPr txBox="1"/>
          <p:nvPr>
            <p:ph idx="5" type="body"/>
          </p:nvPr>
        </p:nvSpPr>
        <p:spPr>
          <a:xfrm>
            <a:off x="2073390" y="1829372"/>
            <a:ext cx="52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42"/>
          <p:cNvSpPr txBox="1"/>
          <p:nvPr>
            <p:ph idx="6" type="body"/>
          </p:nvPr>
        </p:nvSpPr>
        <p:spPr>
          <a:xfrm>
            <a:off x="2084084" y="2221214"/>
            <a:ext cx="15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42"/>
          <p:cNvSpPr txBox="1"/>
          <p:nvPr>
            <p:ph idx="7" type="body"/>
          </p:nvPr>
        </p:nvSpPr>
        <p:spPr>
          <a:xfrm>
            <a:off x="2084084" y="2796430"/>
            <a:ext cx="157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idx="8" type="body"/>
          </p:nvPr>
        </p:nvSpPr>
        <p:spPr>
          <a:xfrm>
            <a:off x="3815238" y="1829372"/>
            <a:ext cx="52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42"/>
          <p:cNvSpPr txBox="1"/>
          <p:nvPr>
            <p:ph idx="9" type="body"/>
          </p:nvPr>
        </p:nvSpPr>
        <p:spPr>
          <a:xfrm>
            <a:off x="3827648" y="2221214"/>
            <a:ext cx="15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42"/>
          <p:cNvSpPr txBox="1"/>
          <p:nvPr>
            <p:ph idx="13" type="body"/>
          </p:nvPr>
        </p:nvSpPr>
        <p:spPr>
          <a:xfrm>
            <a:off x="3827648" y="2796430"/>
            <a:ext cx="157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42"/>
          <p:cNvSpPr txBox="1"/>
          <p:nvPr>
            <p:ph idx="14" type="body"/>
          </p:nvPr>
        </p:nvSpPr>
        <p:spPr>
          <a:xfrm>
            <a:off x="5561293" y="1829372"/>
            <a:ext cx="52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42"/>
          <p:cNvSpPr txBox="1"/>
          <p:nvPr>
            <p:ph idx="15" type="body"/>
          </p:nvPr>
        </p:nvSpPr>
        <p:spPr>
          <a:xfrm>
            <a:off x="5571212" y="2221214"/>
            <a:ext cx="15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42"/>
          <p:cNvSpPr txBox="1"/>
          <p:nvPr>
            <p:ph idx="16" type="body"/>
          </p:nvPr>
        </p:nvSpPr>
        <p:spPr>
          <a:xfrm>
            <a:off x="5571212" y="2796430"/>
            <a:ext cx="157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42"/>
          <p:cNvSpPr txBox="1"/>
          <p:nvPr>
            <p:ph idx="17" type="body"/>
          </p:nvPr>
        </p:nvSpPr>
        <p:spPr>
          <a:xfrm>
            <a:off x="7307348" y="1829372"/>
            <a:ext cx="52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42"/>
          <p:cNvSpPr txBox="1"/>
          <p:nvPr>
            <p:ph idx="18" type="body"/>
          </p:nvPr>
        </p:nvSpPr>
        <p:spPr>
          <a:xfrm>
            <a:off x="7314776" y="2221214"/>
            <a:ext cx="157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FD8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42"/>
          <p:cNvSpPr txBox="1"/>
          <p:nvPr>
            <p:ph idx="19" type="body"/>
          </p:nvPr>
        </p:nvSpPr>
        <p:spPr>
          <a:xfrm>
            <a:off x="7314776" y="2796430"/>
            <a:ext cx="157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2"/>
          <p:cNvSpPr txBox="1"/>
          <p:nvPr/>
        </p:nvSpPr>
        <p:spPr>
          <a:xfrm>
            <a:off x="6935121" y="4894783"/>
            <a:ext cx="314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 sz="110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 type="twoObj">
  <p:cSld name="TWO_OBJECTS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43"/>
          <p:cNvSpPr/>
          <p:nvPr/>
        </p:nvSpPr>
        <p:spPr>
          <a:xfrm>
            <a:off x="0" y="872836"/>
            <a:ext cx="3148500" cy="4270800"/>
          </a:xfrm>
          <a:prstGeom prst="rect">
            <a:avLst/>
          </a:prstGeom>
          <a:solidFill>
            <a:srgbClr val="FFD8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3"/>
          <p:cNvSpPr txBox="1"/>
          <p:nvPr>
            <p:ph idx="1" type="body"/>
          </p:nvPr>
        </p:nvSpPr>
        <p:spPr>
          <a:xfrm>
            <a:off x="339956" y="1257256"/>
            <a:ext cx="2459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43"/>
          <p:cNvSpPr txBox="1"/>
          <p:nvPr>
            <p:ph idx="2" type="body"/>
          </p:nvPr>
        </p:nvSpPr>
        <p:spPr>
          <a:xfrm>
            <a:off x="3497580" y="1257256"/>
            <a:ext cx="4729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44"/>
          <p:cNvSpPr txBox="1"/>
          <p:nvPr>
            <p:ph idx="1" type="body"/>
          </p:nvPr>
        </p:nvSpPr>
        <p:spPr>
          <a:xfrm>
            <a:off x="339956" y="1255811"/>
            <a:ext cx="78867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44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45"/>
          <p:cNvSpPr txBox="1"/>
          <p:nvPr>
            <p:ph idx="1" type="body"/>
          </p:nvPr>
        </p:nvSpPr>
        <p:spPr>
          <a:xfrm>
            <a:off x="339956" y="1257256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45"/>
          <p:cNvSpPr txBox="1"/>
          <p:nvPr>
            <p:ph idx="2" type="body"/>
          </p:nvPr>
        </p:nvSpPr>
        <p:spPr>
          <a:xfrm>
            <a:off x="4340456" y="1257256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45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46"/>
          <p:cNvSpPr txBox="1"/>
          <p:nvPr>
            <p:ph idx="1" type="body"/>
          </p:nvPr>
        </p:nvSpPr>
        <p:spPr>
          <a:xfrm>
            <a:off x="339956" y="1257256"/>
            <a:ext cx="3886200" cy="29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46"/>
          <p:cNvSpPr/>
          <p:nvPr>
            <p:ph idx="2" type="pic"/>
          </p:nvPr>
        </p:nvSpPr>
        <p:spPr>
          <a:xfrm>
            <a:off x="4572000" y="866602"/>
            <a:ext cx="4572000" cy="42768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46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47"/>
          <p:cNvSpPr/>
          <p:nvPr>
            <p:ph idx="2" type="pic"/>
          </p:nvPr>
        </p:nvSpPr>
        <p:spPr>
          <a:xfrm>
            <a:off x="4572000" y="866601"/>
            <a:ext cx="4572000" cy="4276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7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0" y="13691"/>
            <a:ext cx="9144000" cy="45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8"/>
          <p:cNvSpPr txBox="1"/>
          <p:nvPr>
            <p:ph idx="1" type="body"/>
          </p:nvPr>
        </p:nvSpPr>
        <p:spPr>
          <a:xfrm>
            <a:off x="339956" y="261342"/>
            <a:ext cx="33747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48"/>
          <p:cNvSpPr txBox="1"/>
          <p:nvPr>
            <p:ph idx="2" type="body"/>
          </p:nvPr>
        </p:nvSpPr>
        <p:spPr>
          <a:xfrm>
            <a:off x="339956" y="1384080"/>
            <a:ext cx="3374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46" name="Google Shape;246;p48"/>
          <p:cNvCxnSpPr/>
          <p:nvPr/>
        </p:nvCxnSpPr>
        <p:spPr>
          <a:xfrm flipH="1">
            <a:off x="-85650" y="2327981"/>
            <a:ext cx="4067100" cy="1380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48"/>
          <p:cNvSpPr txBox="1"/>
          <p:nvPr>
            <p:ph idx="3" type="body"/>
          </p:nvPr>
        </p:nvSpPr>
        <p:spPr>
          <a:xfrm>
            <a:off x="339956" y="2409229"/>
            <a:ext cx="33747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4" type="body"/>
          </p:nvPr>
        </p:nvSpPr>
        <p:spPr>
          <a:xfrm>
            <a:off x="339956" y="3539849"/>
            <a:ext cx="3374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49" name="Google Shape;249;p48"/>
          <p:cNvCxnSpPr/>
          <p:nvPr/>
        </p:nvCxnSpPr>
        <p:spPr>
          <a:xfrm>
            <a:off x="3981450" y="-66675"/>
            <a:ext cx="0" cy="533400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48"/>
          <p:cNvSpPr txBox="1"/>
          <p:nvPr>
            <p:ph idx="5" type="body"/>
          </p:nvPr>
        </p:nvSpPr>
        <p:spPr>
          <a:xfrm>
            <a:off x="4288069" y="261640"/>
            <a:ext cx="4515900" cy="41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48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9"/>
          <p:cNvSpPr/>
          <p:nvPr/>
        </p:nvSpPr>
        <p:spPr>
          <a:xfrm>
            <a:off x="0" y="13691"/>
            <a:ext cx="9144000" cy="45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9"/>
          <p:cNvSpPr txBox="1"/>
          <p:nvPr>
            <p:ph idx="1" type="body"/>
          </p:nvPr>
        </p:nvSpPr>
        <p:spPr>
          <a:xfrm>
            <a:off x="339956" y="261342"/>
            <a:ext cx="33747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49"/>
          <p:cNvSpPr/>
          <p:nvPr>
            <p:ph idx="2" type="chart"/>
          </p:nvPr>
        </p:nvSpPr>
        <p:spPr>
          <a:xfrm>
            <a:off x="4112420" y="2018703"/>
            <a:ext cx="20955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13DFF"/>
              </a:buClr>
              <a:buSzPts val="14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2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1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49"/>
          <p:cNvSpPr/>
          <p:nvPr>
            <p:ph idx="3" type="chart"/>
          </p:nvPr>
        </p:nvSpPr>
        <p:spPr>
          <a:xfrm>
            <a:off x="6457950" y="2018703"/>
            <a:ext cx="20955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13DFF"/>
              </a:buClr>
              <a:buSzPts val="14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2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1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49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background with a blue banner and a book&#10;&#10;AI-generated content may be incorrect." id="259" name="Google Shape;25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AI-generated content may be incorrect." id="260" name="Google Shape;2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064" y="540155"/>
            <a:ext cx="2272131" cy="53417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0"/>
          <p:cNvSpPr txBox="1"/>
          <p:nvPr>
            <p:ph type="ctrTitle"/>
          </p:nvPr>
        </p:nvSpPr>
        <p:spPr>
          <a:xfrm>
            <a:off x="611064" y="1442700"/>
            <a:ext cx="4928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50"/>
          <p:cNvSpPr txBox="1"/>
          <p:nvPr>
            <p:ph idx="1" type="subTitle"/>
          </p:nvPr>
        </p:nvSpPr>
        <p:spPr>
          <a:xfrm>
            <a:off x="611064" y="3302456"/>
            <a:ext cx="4928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 sz="2400">
                <a:solidFill>
                  <a:srgbClr val="FFD82D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50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1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8" name="Google Shape;26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2pPr>
            <a:lvl3pPr indent="-298450" lvl="2" marL="1371600">
              <a:spcBef>
                <a:spcPts val="400"/>
              </a:spcBef>
              <a:spcAft>
                <a:spcPts val="0"/>
              </a:spcAft>
              <a:buSzPts val="1100"/>
              <a:buChar char="▪"/>
              <a:defRPr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5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73" name="Google Shape;273;p5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23" Type="http://schemas.openxmlformats.org/officeDocument/2006/relationships/theme" Target="../theme/theme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31.xml"/><Relationship Id="rId6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339956" y="2616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0FF"/>
              </a:buClr>
              <a:buSzPts val="4100"/>
              <a:buFont typeface="Play"/>
              <a:buNone/>
              <a:defRPr b="0" i="0" sz="4100" u="none" cap="none" strike="noStrike">
                <a:solidFill>
                  <a:srgbClr val="0050F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339956" y="1255811"/>
            <a:ext cx="78867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0FF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50FF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50FF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50FF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50FF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708660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yellow and black shield with symbols&#10;&#10;AI-generated content may be incorrect." id="60" name="Google Shape;60;p16"/>
          <p:cNvPicPr preferRelativeResize="0"/>
          <p:nvPr/>
        </p:nvPicPr>
        <p:blipFill rotWithShape="1">
          <a:blip r:embed="rId1">
            <a:alphaModFix amt="35000"/>
          </a:blip>
          <a:srcRect b="0" l="0" r="0" t="0"/>
          <a:stretch/>
        </p:blipFill>
        <p:spPr>
          <a:xfrm>
            <a:off x="7464391" y="3069864"/>
            <a:ext cx="1739766" cy="22742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/>
          <p:nvPr>
            <p:ph type="title"/>
          </p:nvPr>
        </p:nvSpPr>
        <p:spPr>
          <a:xfrm>
            <a:off x="339956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5F"/>
              </a:buClr>
              <a:buSzPts val="2400"/>
              <a:buFont typeface="Play"/>
              <a:buNone/>
              <a:defRPr b="0" i="0" sz="2400" u="none" cap="none" strike="noStrike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165" name="Google Shape;165;p38"/>
          <p:cNvCxnSpPr/>
          <p:nvPr/>
        </p:nvCxnSpPr>
        <p:spPr>
          <a:xfrm>
            <a:off x="0" y="866775"/>
            <a:ext cx="91440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339956" y="1255811"/>
            <a:ext cx="78867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13DFF"/>
              </a:buClr>
              <a:buSzPts val="14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2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1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3DFF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blue logo with text&#10;&#10;AI-generated content may be incorrect." id="167" name="Google Shape;167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9956" y="4647266"/>
            <a:ext cx="300338" cy="3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8"/>
          <p:cNvSpPr txBox="1"/>
          <p:nvPr/>
        </p:nvSpPr>
        <p:spPr>
          <a:xfrm>
            <a:off x="6882941" y="4903702"/>
            <a:ext cx="314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UNIVERSITY OF ROCHESTER</a:t>
            </a:r>
            <a:endParaRPr sz="1100"/>
          </a:p>
        </p:txBody>
      </p:sp>
      <p:sp>
        <p:nvSpPr>
          <p:cNvPr id="169" name="Google Shape;169;p38"/>
          <p:cNvSpPr txBox="1"/>
          <p:nvPr>
            <p:ph idx="12" type="sldNum"/>
          </p:nvPr>
        </p:nvSpPr>
        <p:spPr>
          <a:xfrm>
            <a:off x="7086600" y="48559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1400" u="none">
                <a:solidFill>
                  <a:srgbClr val="001E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16.jp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astell@u.rochester.edu" TargetMode="External"/><Relationship Id="rId4" Type="http://schemas.openxmlformats.org/officeDocument/2006/relationships/hyperlink" Target="mailto:lhands@u.rochester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/>
          <p:nvPr>
            <p:ph type="ctrTitle"/>
          </p:nvPr>
        </p:nvSpPr>
        <p:spPr>
          <a:xfrm>
            <a:off x="137594" y="698816"/>
            <a:ext cx="58989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D82D"/>
              </a:buClr>
              <a:buSzPct val="100000"/>
              <a:buFont typeface="Play"/>
              <a:buNone/>
            </a:pPr>
            <a:r>
              <a:rPr lang="en" sz="3600">
                <a:solidFill>
                  <a:srgbClr val="FFD82D"/>
                </a:solidFill>
              </a:rPr>
              <a:t>mis/disinformation in social media</a:t>
            </a:r>
            <a:endParaRPr/>
          </a:p>
        </p:txBody>
      </p:sp>
      <p:sp>
        <p:nvSpPr>
          <p:cNvPr id="280" name="Google Shape;280;p54"/>
          <p:cNvSpPr txBox="1"/>
          <p:nvPr>
            <p:ph idx="1" type="subTitle"/>
          </p:nvPr>
        </p:nvSpPr>
        <p:spPr>
          <a:xfrm>
            <a:off x="137594" y="133141"/>
            <a:ext cx="50712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understanding and addressing</a:t>
            </a:r>
            <a:endParaRPr/>
          </a:p>
        </p:txBody>
      </p:sp>
      <p:pic>
        <p:nvPicPr>
          <p:cNvPr descr="A black and white sign with white text&#10;&#10;Description automatically generated" id="281" name="Google Shape;28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44" y="3988838"/>
            <a:ext cx="2745138" cy="986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54"/>
          <p:cNvSpPr txBox="1"/>
          <p:nvPr/>
        </p:nvSpPr>
        <p:spPr>
          <a:xfrm>
            <a:off x="218144" y="2986206"/>
            <a:ext cx="4527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Amy Stell and Luke Hands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PhD students in Teaching and Curriculum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3" name="Google Shape;283;p54"/>
          <p:cNvSpPr txBox="1"/>
          <p:nvPr/>
        </p:nvSpPr>
        <p:spPr>
          <a:xfrm>
            <a:off x="137594" y="1314724"/>
            <a:ext cx="5644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A3C5ED"/>
                </a:solidFill>
                <a:latin typeface="Arial"/>
                <a:ea typeface="Arial"/>
                <a:cs typeface="Arial"/>
                <a:sym typeface="Arial"/>
              </a:rPr>
              <a:t>a d</a:t>
            </a:r>
            <a:r>
              <a:rPr i="1" lang="en" sz="1400" u="none" strike="noStrike">
                <a:solidFill>
                  <a:srgbClr val="A3C5ED"/>
                </a:solidFill>
                <a:latin typeface="Arial"/>
                <a:ea typeface="Arial"/>
                <a:cs typeface="Arial"/>
                <a:sym typeface="Arial"/>
              </a:rPr>
              <a:t>iscussion </a:t>
            </a:r>
            <a:r>
              <a:rPr i="1" lang="en">
                <a:solidFill>
                  <a:srgbClr val="A3C5ED"/>
                </a:solidFill>
              </a:rPr>
              <a:t>with</a:t>
            </a:r>
            <a:r>
              <a:rPr i="1" lang="en">
                <a:solidFill>
                  <a:srgbClr val="A3C5ED"/>
                </a:solidFill>
              </a:rPr>
              <a:t> Spring 2026 EDU 498</a:t>
            </a:r>
            <a:endParaRPr i="1" sz="1400">
              <a:solidFill>
                <a:srgbClr val="A3C5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4"/>
          <p:cNvSpPr txBox="1"/>
          <p:nvPr/>
        </p:nvSpPr>
        <p:spPr>
          <a:xfrm>
            <a:off x="5028425" y="1599425"/>
            <a:ext cx="3797400" cy="29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D82B"/>
                </a:solidFill>
              </a:rPr>
              <a:t>Layout of our talk:</a:t>
            </a:r>
            <a:endParaRPr b="1" sz="2100">
              <a:solidFill>
                <a:srgbClr val="FFD82B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D82B"/>
              </a:buClr>
              <a:buSzPts val="2100"/>
              <a:buAutoNum type="arabicPeriod"/>
            </a:pPr>
            <a:r>
              <a:rPr b="1" lang="en" sz="2100">
                <a:solidFill>
                  <a:srgbClr val="FFD82B"/>
                </a:solidFill>
              </a:rPr>
              <a:t>Background on our mis/disinformation professional development</a:t>
            </a:r>
            <a:endParaRPr b="1" sz="2100">
              <a:solidFill>
                <a:srgbClr val="FFD82B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D82B"/>
              </a:buClr>
              <a:buSzPts val="2100"/>
              <a:buAutoNum type="arabicPeriod"/>
            </a:pPr>
            <a:r>
              <a:rPr b="1" lang="en" sz="2100">
                <a:solidFill>
                  <a:srgbClr val="FFD82B"/>
                </a:solidFill>
              </a:rPr>
              <a:t>Overview of our research study and a salient finding</a:t>
            </a:r>
            <a:endParaRPr b="1" sz="2100">
              <a:solidFill>
                <a:srgbClr val="FFD82B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D82B"/>
              </a:buClr>
              <a:buSzPts val="2100"/>
              <a:buAutoNum type="arabicPeriod"/>
            </a:pPr>
            <a:r>
              <a:rPr b="1" lang="en" sz="2100">
                <a:solidFill>
                  <a:srgbClr val="FFD82B"/>
                </a:solidFill>
              </a:rPr>
              <a:t>Reflections/Questions</a:t>
            </a:r>
            <a:endParaRPr b="1" sz="2100">
              <a:solidFill>
                <a:srgbClr val="FFD82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55"/>
          <p:cNvGraphicFramePr/>
          <p:nvPr/>
        </p:nvGraphicFramePr>
        <p:xfrm>
          <a:off x="176049" y="169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{5FF4C427-4FBE-4E88-8977-0B9A24F30C2A}</a:tableStyleId>
              </a:tblPr>
              <a:tblGrid>
                <a:gridCol w="399395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2100">
                          <a:solidFill>
                            <a:srgbClr val="143C64"/>
                          </a:solidFill>
                        </a:rPr>
                        <a:t>requests</a:t>
                      </a:r>
                      <a:r>
                        <a:rPr b="0" lang="en" sz="2100" u="none" cap="none" strike="noStrike">
                          <a:solidFill>
                            <a:srgbClr val="143C64"/>
                          </a:solidFill>
                        </a:rPr>
                        <a:t> of the </a:t>
                      </a:r>
                      <a:r>
                        <a:rPr b="0" lang="en" sz="2100">
                          <a:solidFill>
                            <a:srgbClr val="143C64"/>
                          </a:solidFill>
                        </a:rPr>
                        <a:t>session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D82B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-26670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b="1" i="1" lang="en" sz="1500"/>
                        <a:t>Ask questions: </a:t>
                      </a:r>
                      <a:r>
                        <a:rPr lang="en" sz="1500"/>
                        <a:t>as we go through our slides and activities, please ask clarifying or inquiry questions as you feel is necessary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4765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b="1" i="1" lang="en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Ways to participate</a:t>
                      </a:r>
                      <a:r>
                        <a:rPr b="1" i="1" lang="en" sz="15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en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unmute and talk, type in the chat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0" name="Google Shape;290;p55"/>
          <p:cNvGraphicFramePr/>
          <p:nvPr/>
        </p:nvGraphicFramePr>
        <p:xfrm>
          <a:off x="4769068" y="1414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{5FF4C427-4FBE-4E88-8977-0B9A24F30C2A}</a:tableStyleId>
              </a:tblPr>
              <a:tblGrid>
                <a:gridCol w="41988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2100">
                          <a:solidFill>
                            <a:srgbClr val="143C64"/>
                          </a:solidFill>
                        </a:rPr>
                        <a:t>norms that support healthy information lifestyles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D82B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</a:t>
                      </a: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seek out accurate information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about things like health, science, and politics </a:t>
                      </a: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because accuracy matters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us and the people we care about</a:t>
                      </a:r>
                      <a:endParaRPr sz="1100"/>
                    </a:p>
                    <a:p>
                      <a:pPr indent="-1905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talk to each other about </a:t>
                      </a: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we find sources of information trustworthy or not</a:t>
                      </a:r>
                      <a:endParaRPr sz="1100"/>
                    </a:p>
                    <a:p>
                      <a:pPr indent="-1905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</a:t>
                      </a: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assume that when someone shares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inaccurate or misleading information </a:t>
                      </a: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means their values or beliefs are bad</a:t>
                      </a:r>
                      <a:endParaRPr sz="1100"/>
                    </a:p>
                    <a:p>
                      <a:pPr indent="-1905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“free speech” ≠ false statements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intended to mislead others, damage someone’s reputation, or cause conflict</a:t>
                      </a:r>
                      <a:endParaRPr sz="1100"/>
                    </a:p>
                    <a:p>
                      <a:pPr indent="-1905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1" i="1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“fact checking” ≠ censorship</a:t>
                      </a:r>
                      <a:r>
                        <a:rPr b="0" i="0" lang="en" sz="12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 it counters inaccurate or misleading information rather than suppressing it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6"/>
          <p:cNvSpPr/>
          <p:nvPr/>
        </p:nvSpPr>
        <p:spPr>
          <a:xfrm>
            <a:off x="1543050" y="742950"/>
            <a:ext cx="4000500" cy="4000500"/>
          </a:xfrm>
          <a:prstGeom prst="ellipse">
            <a:avLst/>
          </a:prstGeom>
          <a:solidFill>
            <a:srgbClr val="BFBFBF"/>
          </a:solidFill>
          <a:ln cap="flat" cmpd="sng" w="1430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6"/>
          <p:cNvSpPr/>
          <p:nvPr/>
        </p:nvSpPr>
        <p:spPr>
          <a:xfrm>
            <a:off x="3543300" y="742950"/>
            <a:ext cx="4000500" cy="4000500"/>
          </a:xfrm>
          <a:prstGeom prst="ellipse">
            <a:avLst/>
          </a:prstGeom>
          <a:solidFill>
            <a:srgbClr val="BFBFBF"/>
          </a:solidFill>
          <a:ln cap="flat" cmpd="sng" w="1430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6"/>
          <p:cNvSpPr/>
          <p:nvPr/>
        </p:nvSpPr>
        <p:spPr>
          <a:xfrm>
            <a:off x="1543050" y="742950"/>
            <a:ext cx="4000500" cy="4000500"/>
          </a:xfrm>
          <a:prstGeom prst="ellipse">
            <a:avLst/>
          </a:prstGeom>
          <a:noFill/>
          <a:ln cap="flat" cmpd="sng" w="1430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6"/>
          <p:cNvSpPr txBox="1"/>
          <p:nvPr/>
        </p:nvSpPr>
        <p:spPr>
          <a:xfrm>
            <a:off x="2009775" y="1533011"/>
            <a:ext cx="173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misinformation</a:t>
            </a:r>
            <a:endParaRPr sz="1100"/>
          </a:p>
        </p:txBody>
      </p:sp>
      <p:sp>
        <p:nvSpPr>
          <p:cNvPr id="299" name="Google Shape;299;p56"/>
          <p:cNvSpPr txBox="1"/>
          <p:nvPr/>
        </p:nvSpPr>
        <p:spPr>
          <a:xfrm>
            <a:off x="3705225" y="1533011"/>
            <a:ext cx="173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disinformation</a:t>
            </a:r>
            <a:endParaRPr sz="1100"/>
          </a:p>
        </p:txBody>
      </p:sp>
      <p:sp>
        <p:nvSpPr>
          <p:cNvPr id="300" name="Google Shape;300;p56"/>
          <p:cNvSpPr txBox="1"/>
          <p:nvPr/>
        </p:nvSpPr>
        <p:spPr>
          <a:xfrm>
            <a:off x="5286375" y="1533011"/>
            <a:ext cx="173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malinformation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6"/>
          <p:cNvSpPr txBox="1"/>
          <p:nvPr/>
        </p:nvSpPr>
        <p:spPr>
          <a:xfrm>
            <a:off x="2638426" y="888139"/>
            <a:ext cx="1733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100"/>
          </a:p>
        </p:txBody>
      </p:sp>
      <p:sp>
        <p:nvSpPr>
          <p:cNvPr id="302" name="Google Shape;302;p56"/>
          <p:cNvSpPr txBox="1"/>
          <p:nvPr/>
        </p:nvSpPr>
        <p:spPr>
          <a:xfrm>
            <a:off x="4772025" y="837099"/>
            <a:ext cx="1733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intentionally harmful</a:t>
            </a:r>
            <a:endParaRPr sz="1100"/>
          </a:p>
        </p:txBody>
      </p:sp>
      <p:sp>
        <p:nvSpPr>
          <p:cNvPr id="303" name="Google Shape;303;p56"/>
          <p:cNvSpPr txBox="1"/>
          <p:nvPr/>
        </p:nvSpPr>
        <p:spPr>
          <a:xfrm>
            <a:off x="1666875" y="2103485"/>
            <a:ext cx="18480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b="0" i="0" lang="en" sz="1400" u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naccurate, distorted, and/or out-of-context information, not shared in bad faith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6"/>
          <p:cNvSpPr txBox="1"/>
          <p:nvPr/>
        </p:nvSpPr>
        <p:spPr>
          <a:xfrm>
            <a:off x="3590925" y="2103484"/>
            <a:ext cx="18480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purposefully fabricated, altered, or misrepresented information and/or context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6"/>
          <p:cNvSpPr txBox="1"/>
          <p:nvPr/>
        </p:nvSpPr>
        <p:spPr>
          <a:xfrm>
            <a:off x="5514975" y="2103484"/>
            <a:ext cx="18480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private information distributed publicly to harass, endanger, or silence others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6"/>
          <p:cNvSpPr txBox="1"/>
          <p:nvPr/>
        </p:nvSpPr>
        <p:spPr>
          <a:xfrm>
            <a:off x="2502694" y="4292825"/>
            <a:ext cx="4076700" cy="65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“information disorder”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(Wardle &amp; Derakhshan, 2017)</a:t>
            </a:r>
            <a:endParaRPr sz="1100"/>
          </a:p>
        </p:txBody>
      </p:sp>
      <p:sp>
        <p:nvSpPr>
          <p:cNvPr id="307" name="Google Shape;307;p56"/>
          <p:cNvSpPr txBox="1"/>
          <p:nvPr/>
        </p:nvSpPr>
        <p:spPr>
          <a:xfrm>
            <a:off x="223673" y="154714"/>
            <a:ext cx="5843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misinformation and disinformation?</a:t>
            </a:r>
            <a:endParaRPr sz="1100"/>
          </a:p>
        </p:txBody>
      </p:sp>
      <p:sp>
        <p:nvSpPr>
          <p:cNvPr id="308" name="Google Shape;308;p56"/>
          <p:cNvSpPr txBox="1"/>
          <p:nvPr/>
        </p:nvSpPr>
        <p:spPr>
          <a:xfrm>
            <a:off x="4369594" y="3384483"/>
            <a:ext cx="2600400" cy="5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contingent on positions of power</a:t>
            </a:r>
            <a:endParaRPr sz="1100"/>
          </a:p>
        </p:txBody>
      </p:sp>
      <p:sp>
        <p:nvSpPr>
          <p:cNvPr id="309" name="Google Shape;309;p56"/>
          <p:cNvSpPr txBox="1"/>
          <p:nvPr/>
        </p:nvSpPr>
        <p:spPr>
          <a:xfrm>
            <a:off x="2174181" y="3946341"/>
            <a:ext cx="47958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contingent upon networks that enable spreading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7"/>
          <p:cNvSpPr txBox="1"/>
          <p:nvPr/>
        </p:nvSpPr>
        <p:spPr>
          <a:xfrm>
            <a:off x="223673" y="154714"/>
            <a:ext cx="8768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effects of information disorder?</a:t>
            </a:r>
            <a:endParaRPr sz="1100"/>
          </a:p>
        </p:txBody>
      </p:sp>
      <p:pic>
        <p:nvPicPr>
          <p:cNvPr id="315" name="Google Shape;3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673" y="1022723"/>
            <a:ext cx="1681327" cy="253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538" y="829135"/>
            <a:ext cx="368562" cy="38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68" y="1006855"/>
            <a:ext cx="368563" cy="41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738" y="750823"/>
            <a:ext cx="333375" cy="35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,800+ Large Group Of People White Background Stock Illustrations,  Royalty-Free Vector Graphics &amp; Clip Art - iStock | People sitting on bench white  background" id="319" name="Google Shape;319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33700" y="2830132"/>
            <a:ext cx="4429125" cy="2243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7"/>
          <p:cNvSpPr txBox="1"/>
          <p:nvPr/>
        </p:nvSpPr>
        <p:spPr>
          <a:xfrm>
            <a:off x="1905000" y="1124581"/>
            <a:ext cx="4838700" cy="237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 u="sng" strike="noStrike">
                <a:solidFill>
                  <a:srgbClr val="F4CE2C"/>
                </a:solidFill>
                <a:latin typeface="Arial"/>
                <a:ea typeface="Arial"/>
                <a:cs typeface="Arial"/>
                <a:sym typeface="Arial"/>
              </a:rPr>
              <a:t>individual effects</a:t>
            </a:r>
            <a:r>
              <a:rPr i="1" lang="en" sz="1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i="1" lang="en" sz="1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xacerbates misperceptions, stereotypes, false beliefs, and cynicism toward information (</a:t>
            </a:r>
            <a:r>
              <a:rPr i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e.g., “it’s all biased”)</a:t>
            </a:r>
            <a:endParaRPr i="1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b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" sz="1500" u="sng">
                <a:solidFill>
                  <a:srgbClr val="F4CE2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i="1" lang="en" sz="1500" u="sng" strike="noStrike">
                <a:solidFill>
                  <a:srgbClr val="F4CE2C"/>
                </a:solidFill>
                <a:latin typeface="Arial"/>
                <a:ea typeface="Arial"/>
                <a:cs typeface="Arial"/>
                <a:sym typeface="Arial"/>
              </a:rPr>
              <a:t>ocial effects</a:t>
            </a:r>
            <a:r>
              <a:rPr i="1" lang="en" sz="1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i="1" lang="en" sz="1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einforces and deepens affective polarization and division; generates mistrust in institutions (e.g., public agencies, knowledge producers); reduces our collective capacities to create, strengthen, and protect public goods (e.g., health, safety)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8"/>
          <p:cNvSpPr txBox="1"/>
          <p:nvPr/>
        </p:nvSpPr>
        <p:spPr>
          <a:xfrm>
            <a:off x="223673" y="154714"/>
            <a:ext cx="8768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could we do to address information disorder?</a:t>
            </a:r>
            <a:endParaRPr sz="1100"/>
          </a:p>
        </p:txBody>
      </p:sp>
      <p:grpSp>
        <p:nvGrpSpPr>
          <p:cNvPr id="326" name="Google Shape;326;p58"/>
          <p:cNvGrpSpPr/>
          <p:nvPr/>
        </p:nvGrpSpPr>
        <p:grpSpPr>
          <a:xfrm>
            <a:off x="3057500" y="1565887"/>
            <a:ext cx="1196656" cy="1825992"/>
            <a:chOff x="298231" y="1001098"/>
            <a:chExt cx="2241769" cy="3748701"/>
          </a:xfrm>
        </p:grpSpPr>
        <p:pic>
          <p:nvPicPr>
            <p:cNvPr id="327" name="Google Shape;32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8231" y="1363631"/>
              <a:ext cx="2241769" cy="3386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91384" y="1105513"/>
              <a:ext cx="491416" cy="516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8357" y="1342473"/>
              <a:ext cx="491417" cy="558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7650" y="1001098"/>
              <a:ext cx="444500" cy="4669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3,800+ Large Group Of People White Background Stock Illustrations,  Royalty-Free Vector Graphics &amp; Clip Art - iStock | People sitting on bench white  background" id="331" name="Google Shape;331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6161" y="3391978"/>
            <a:ext cx="3022908" cy="153121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8"/>
          <p:cNvSpPr txBox="1"/>
          <p:nvPr/>
        </p:nvSpPr>
        <p:spPr>
          <a:xfrm>
            <a:off x="4377225" y="1793375"/>
            <a:ext cx="25497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l</a:t>
            </a:r>
            <a:r>
              <a:rPr b="1" i="0" lang="en" sz="1400" u="none" strike="noStrike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ifestyle:</a:t>
            </a:r>
            <a:endParaRPr b="0" i="0" sz="1400" u="none" strike="noStrike">
              <a:solidFill>
                <a:srgbClr val="0050FF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b="0" i="0" lang="en" sz="1400" u="none" strike="noStrike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ndividual and social work to reduce conditions that make people susceptible to infection and strengthen conditions that make people resilient to infection</a:t>
            </a:r>
            <a:endParaRPr b="0" sz="1400">
              <a:solidFill>
                <a:srgbClr val="005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8"/>
          <p:cNvSpPr txBox="1"/>
          <p:nvPr/>
        </p:nvSpPr>
        <p:spPr>
          <a:xfrm>
            <a:off x="1597918" y="599512"/>
            <a:ext cx="20190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treatment</a:t>
            </a:r>
            <a:r>
              <a:rPr b="1" i="0" lang="en" sz="1400" u="none" strike="noStrike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b="0" i="0" sz="1400" u="none" strike="noStrike">
              <a:solidFill>
                <a:srgbClr val="0050FF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r>
              <a:rPr b="0"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ddress the infection by removing the infectant (e.g., debunking) and correcting its effects in a targeted way  </a:t>
            </a:r>
            <a:endParaRPr b="0" sz="1400">
              <a:solidFill>
                <a:srgbClr val="005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8"/>
          <p:cNvSpPr txBox="1"/>
          <p:nvPr/>
        </p:nvSpPr>
        <p:spPr>
          <a:xfrm>
            <a:off x="1597926" y="3381325"/>
            <a:ext cx="24408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inoculation</a:t>
            </a:r>
            <a:r>
              <a:rPr b="1" i="0" lang="en" sz="1400" u="none" strike="noStrike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b="0" i="0" sz="1400" u="none" strike="noStrike">
              <a:solidFill>
                <a:srgbClr val="0050FF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50FF"/>
                </a:solidFill>
                <a:latin typeface="Lustria"/>
                <a:ea typeface="Lustria"/>
                <a:cs typeface="Lustria"/>
                <a:sym typeface="Lustria"/>
              </a:rPr>
              <a:t>build resistance to an infectant by forewarning what infection entails and “microdosing” a refutation of disordered information (i.e., “prebunking”)</a:t>
            </a:r>
            <a:endParaRPr b="0" sz="1400">
              <a:solidFill>
                <a:srgbClr val="005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58"/>
          <p:cNvCxnSpPr/>
          <p:nvPr/>
        </p:nvCxnSpPr>
        <p:spPr>
          <a:xfrm flipH="1" rot="10800000">
            <a:off x="1946638" y="2616270"/>
            <a:ext cx="1035600" cy="465600"/>
          </a:xfrm>
          <a:prstGeom prst="straightConnector1">
            <a:avLst/>
          </a:prstGeom>
          <a:noFill/>
          <a:ln cap="flat" cmpd="sng" w="19050">
            <a:solidFill>
              <a:srgbClr val="0050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58"/>
          <p:cNvCxnSpPr/>
          <p:nvPr/>
        </p:nvCxnSpPr>
        <p:spPr>
          <a:xfrm>
            <a:off x="1955196" y="2081414"/>
            <a:ext cx="1018500" cy="369900"/>
          </a:xfrm>
          <a:prstGeom prst="straightConnector1">
            <a:avLst/>
          </a:prstGeom>
          <a:noFill/>
          <a:ln cap="flat" cmpd="sng" w="19050">
            <a:solidFill>
              <a:srgbClr val="0050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337" name="Google Shape;337;p58"/>
          <p:cNvGraphicFramePr/>
          <p:nvPr/>
        </p:nvGraphicFramePr>
        <p:xfrm>
          <a:off x="6678087" y="184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{5FF4C427-4FBE-4E88-8977-0B9A24F30C2A}</a:tableStyleId>
              </a:tblPr>
              <a:tblGrid>
                <a:gridCol w="2256025"/>
              </a:tblGrid>
              <a:tr h="38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43C64"/>
                          </a:solidFill>
                        </a:rPr>
                        <a:t>norms that support healthy information lifestyles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D82B"/>
                    </a:solidFill>
                  </a:tcPr>
                </a:tc>
              </a:tr>
              <a:tr h="1444975">
                <a:tc>
                  <a:txBody>
                    <a:bodyPr/>
                    <a:lstStyle/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Char char="•"/>
                      </a:pP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</a:t>
                      </a: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seek out accurate information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about things like health, science, and politics </a:t>
                      </a: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because accuracy matters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us and the people we care about</a:t>
                      </a:r>
                      <a:endParaRPr sz="1100"/>
                    </a:p>
                    <a:p>
                      <a:pPr indent="-2159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Char char="•"/>
                      </a:pP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talk to each other about </a:t>
                      </a: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we find sources of information trustworthy or not</a:t>
                      </a:r>
                      <a:endParaRPr sz="1100"/>
                    </a:p>
                    <a:p>
                      <a:pPr indent="-2159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Char char="•"/>
                      </a:pP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 will </a:t>
                      </a: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assume that when someone shares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inaccurate or misleading information </a:t>
                      </a: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means their values or beliefs are bad</a:t>
                      </a:r>
                      <a:endParaRPr sz="1100"/>
                    </a:p>
                    <a:p>
                      <a:pPr indent="-2159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Char char="•"/>
                      </a:pP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“free speech” ≠ false statements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intended to mislead others, damage someone’s reputation, or cause conflict</a:t>
                      </a:r>
                      <a:endParaRPr sz="1100"/>
                    </a:p>
                    <a:p>
                      <a:pPr indent="-2159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4000" lvl="0" marL="254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Char char="•"/>
                      </a:pPr>
                      <a:r>
                        <a:rPr b="1" i="1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“fact checking” ≠ censorship</a:t>
                      </a:r>
                      <a:r>
                        <a:rPr b="0" i="0" lang="en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 it counters inaccurate or misleading information rather than suppressing it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pic>
        <p:nvPicPr>
          <p:cNvPr id="338" name="Google Shape;338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5952" y="665992"/>
            <a:ext cx="1204472" cy="120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951" y="3443833"/>
            <a:ext cx="1230073" cy="1223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8"/>
          <p:cNvSpPr txBox="1"/>
          <p:nvPr/>
        </p:nvSpPr>
        <p:spPr>
          <a:xfrm>
            <a:off x="161246" y="1860143"/>
            <a:ext cx="153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Lewandowsky, et al. (2020).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Debunking Handbook.</a:t>
            </a:r>
            <a:endParaRPr sz="1100"/>
          </a:p>
        </p:txBody>
      </p:sp>
      <p:sp>
        <p:nvSpPr>
          <p:cNvPr id="341" name="Google Shape;341;p58"/>
          <p:cNvSpPr txBox="1"/>
          <p:nvPr/>
        </p:nvSpPr>
        <p:spPr>
          <a:xfrm>
            <a:off x="325951" y="4665621"/>
            <a:ext cx="1204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disorder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inoculation resources</a:t>
            </a:r>
            <a:endParaRPr i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 txBox="1"/>
          <p:nvPr/>
        </p:nvSpPr>
        <p:spPr>
          <a:xfrm>
            <a:off x="223673" y="154714"/>
            <a:ext cx="8768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SIFT: a quick debunking strategy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(Caulfield &amp; Wineburg, 2023)</a:t>
            </a:r>
            <a:endParaRPr sz="1100"/>
          </a:p>
        </p:txBody>
      </p:sp>
      <p:graphicFrame>
        <p:nvGraphicFramePr>
          <p:cNvPr id="347" name="Google Shape;347;p59"/>
          <p:cNvGraphicFramePr/>
          <p:nvPr/>
        </p:nvGraphicFramePr>
        <p:xfrm>
          <a:off x="831056" y="1286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{13439717-EA8D-4B99-9DB6-46E3FA05D828}</a:tableStyleId>
              </a:tblPr>
              <a:tblGrid>
                <a:gridCol w="770225"/>
                <a:gridCol w="2637350"/>
              </a:tblGrid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nvestigate the source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 other coverage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race the claim to the original context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59"/>
          <p:cNvSpPr txBox="1"/>
          <p:nvPr/>
        </p:nvSpPr>
        <p:spPr>
          <a:xfrm>
            <a:off x="4352925" y="1286693"/>
            <a:ext cx="4067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What is this? What is my initial emotional response to it; and why might that be my initial response?</a:t>
            </a:r>
            <a:endParaRPr sz="1100"/>
          </a:p>
        </p:txBody>
      </p:sp>
      <p:sp>
        <p:nvSpPr>
          <p:cNvPr id="349" name="Google Shape;349;p59"/>
          <p:cNvSpPr txBox="1"/>
          <p:nvPr/>
        </p:nvSpPr>
        <p:spPr>
          <a:xfrm>
            <a:off x="4352925" y="2142113"/>
            <a:ext cx="4067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Is this a trustworthy source? How would I quickly assess that?</a:t>
            </a:r>
            <a:endParaRPr sz="1100"/>
          </a:p>
        </p:txBody>
      </p:sp>
      <p:sp>
        <p:nvSpPr>
          <p:cNvPr id="350" name="Google Shape;350;p59"/>
          <p:cNvSpPr txBox="1"/>
          <p:nvPr/>
        </p:nvSpPr>
        <p:spPr>
          <a:xfrm>
            <a:off x="4352925" y="2885294"/>
            <a:ext cx="4067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Zoom out, and “read laterally” – is this information found in other credible sources? </a:t>
            </a:r>
            <a:endParaRPr sz="1100"/>
          </a:p>
        </p:txBody>
      </p:sp>
      <p:sp>
        <p:nvSpPr>
          <p:cNvPr id="351" name="Google Shape;351;p59"/>
          <p:cNvSpPr txBox="1"/>
          <p:nvPr/>
        </p:nvSpPr>
        <p:spPr>
          <a:xfrm>
            <a:off x="4352925" y="3628475"/>
            <a:ext cx="4067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Can I find out where and how this source got its information, originally?</a:t>
            </a:r>
            <a:endParaRPr sz="1100"/>
          </a:p>
        </p:txBody>
      </p:sp>
      <p:sp>
        <p:nvSpPr>
          <p:cNvPr id="352" name="Google Shape;352;p59"/>
          <p:cNvSpPr txBox="1"/>
          <p:nvPr/>
        </p:nvSpPr>
        <p:spPr>
          <a:xfrm>
            <a:off x="5488700" y="4476100"/>
            <a:ext cx="3233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Get ready to use your </a:t>
            </a:r>
            <a:r>
              <a:rPr i="1" lang="en" sz="1500">
                <a:solidFill>
                  <a:schemeClr val="dk1"/>
                </a:solidFill>
              </a:rPr>
              <a:t>phones</a:t>
            </a:r>
            <a:r>
              <a:rPr i="1" lang="en" sz="1500">
                <a:solidFill>
                  <a:schemeClr val="dk1"/>
                </a:solidFill>
              </a:rPr>
              <a:t> or laptops for the next slide. </a:t>
            </a:r>
            <a:endParaRPr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097" y="95250"/>
            <a:ext cx="2874091" cy="2805113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358" name="Google Shape;358;p60"/>
          <p:cNvGraphicFramePr/>
          <p:nvPr/>
        </p:nvGraphicFramePr>
        <p:xfrm>
          <a:off x="135812" y="2061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{13439717-EA8D-4B99-9DB6-46E3FA05D828}</a:tableStyleId>
              </a:tblPr>
              <a:tblGrid>
                <a:gridCol w="770225"/>
                <a:gridCol w="2637350"/>
              </a:tblGrid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nvestigate the source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 other coverage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36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3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800" u="none" strike="noStrike">
                          <a:solidFill>
                            <a:srgbClr val="113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" sz="1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race the claim to the original context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0000" marL="50000">
                    <a:lnL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59" name="Google Shape;35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0841" y="95251"/>
            <a:ext cx="2922316" cy="2805111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" name="Google Shape;360;p60"/>
          <p:cNvSpPr txBox="1"/>
          <p:nvPr/>
        </p:nvSpPr>
        <p:spPr>
          <a:xfrm>
            <a:off x="287675" y="448775"/>
            <a:ext cx="21171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</a:rPr>
              <a:t>You try…</a:t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"/>
          <p:cNvSpPr txBox="1"/>
          <p:nvPr>
            <p:ph idx="1" type="body"/>
          </p:nvPr>
        </p:nvSpPr>
        <p:spPr>
          <a:xfrm>
            <a:off x="5480188" y="1021800"/>
            <a:ext cx="3265800" cy="3099900"/>
          </a:xfrm>
          <a:prstGeom prst="rect">
            <a:avLst/>
          </a:prstGeom>
          <a:solidFill>
            <a:srgbClr val="FFD82D"/>
          </a:solidFill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Research question:</a:t>
            </a:r>
            <a:endParaRPr b="1" sz="2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How did cadre participants understand and manage conditions in their professional-ecological systems to set priorities for teaching and learning about mis/disinformation and act accordingly? </a:t>
            </a:r>
            <a:endParaRPr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6" name="Google Shape;366;p61"/>
          <p:cNvSpPr txBox="1"/>
          <p:nvPr>
            <p:ph type="title"/>
          </p:nvPr>
        </p:nvSpPr>
        <p:spPr>
          <a:xfrm>
            <a:off x="131725" y="15137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757575"/>
                </a:solidFill>
              </a:rPr>
              <a:t>Study purpose and research question</a:t>
            </a:r>
            <a:endParaRPr sz="3000">
              <a:solidFill>
                <a:srgbClr val="757575"/>
              </a:solidFill>
            </a:endParaRPr>
          </a:p>
        </p:txBody>
      </p:sp>
      <p:sp>
        <p:nvSpPr>
          <p:cNvPr id="367" name="Google Shape;367;p61"/>
          <p:cNvSpPr txBox="1"/>
          <p:nvPr/>
        </p:nvSpPr>
        <p:spPr>
          <a:xfrm>
            <a:off x="398013" y="967200"/>
            <a:ext cx="4188900" cy="3209100"/>
          </a:xfrm>
          <a:prstGeom prst="rect">
            <a:avLst/>
          </a:prstGeom>
          <a:solidFill>
            <a:srgbClr val="001E5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Problem space:</a:t>
            </a:r>
            <a:endParaRPr b="1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Information disorder is…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Char char="●"/>
            </a:pPr>
            <a:r>
              <a:rPr lang="en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 macrosystemic, technologically dynamic, politically weaponizable, socially and cognitively overwhelming condition (1)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Char char="●"/>
            </a:pPr>
            <a:r>
              <a:rPr lang="en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represented in educational spaces largely via individualistic (e.g., “learning to think/act like fact checkers”) and antiquated (e.g., “media literacy skills”) frames (2)</a:t>
            </a:r>
            <a:endParaRPr sz="1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8" name="Google Shape;368;p61"/>
          <p:cNvSpPr/>
          <p:nvPr/>
        </p:nvSpPr>
        <p:spPr>
          <a:xfrm>
            <a:off x="4509225" y="2058600"/>
            <a:ext cx="787800" cy="102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1E5F"/>
          </a:solidFill>
          <a:ln cap="flat" cmpd="sng" w="9525">
            <a:solidFill>
              <a:srgbClr val="001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1"/>
          <p:cNvSpPr txBox="1"/>
          <p:nvPr/>
        </p:nvSpPr>
        <p:spPr>
          <a:xfrm>
            <a:off x="696525" y="4176300"/>
            <a:ext cx="531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rPr>
              <a:t>(1) e.g. Ecker, et al, 2025; Mihailidis &amp; Viotty, 2017; Pennycook &amp; Rand, 2021; Perez-Escolar, et al, 2023; van Bavel, et al, 2021; Wardle &amp; Derakhshan, 2017</a:t>
            </a:r>
            <a:endParaRPr b="1" sz="1000">
              <a:solidFill>
                <a:srgbClr val="001E5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1" sz="800">
              <a:solidFill>
                <a:srgbClr val="001E5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1E5F"/>
                </a:solidFill>
                <a:latin typeface="Play"/>
                <a:ea typeface="Play"/>
                <a:cs typeface="Play"/>
                <a:sym typeface="Play"/>
              </a:rPr>
              <a:t>(2) e.g., Clark &amp; Schmeichel, 2024; Garrett, Schmeichel, &amp; Clark, 2025; Hodgin &amp; Kahne, 2018; Journell, 2019 (Ed.), 2024; Wineburg, et al, 2022</a:t>
            </a:r>
            <a:endParaRPr b="1" sz="1000">
              <a:solidFill>
                <a:srgbClr val="001E5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33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2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2"/>
          <p:cNvSpPr/>
          <p:nvPr/>
        </p:nvSpPr>
        <p:spPr>
          <a:xfrm>
            <a:off x="274320" y="36576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THE REALITY</a:t>
            </a:r>
            <a:endParaRPr b="0" i="0" sz="11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2"/>
          <p:cNvSpPr/>
          <p:nvPr/>
        </p:nvSpPr>
        <p:spPr>
          <a:xfrm>
            <a:off x="274320" y="91440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Disinformation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NOT equally distributed.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2"/>
          <p:cNvSpPr/>
          <p:nvPr/>
        </p:nvSpPr>
        <p:spPr>
          <a:xfrm>
            <a:off x="274320" y="1737360"/>
            <a:ext cx="54900" cy="5943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2"/>
          <p:cNvSpPr/>
          <p:nvPr/>
        </p:nvSpPr>
        <p:spPr>
          <a:xfrm>
            <a:off x="457200" y="1737360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Asymmetric sourcing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Conservative elites &amp; right-wing media seed false content more frequently than liberal counterparts.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2"/>
          <p:cNvSpPr/>
          <p:nvPr/>
        </p:nvSpPr>
        <p:spPr>
          <a:xfrm>
            <a:off x="274320" y="2743200"/>
            <a:ext cx="54900" cy="5943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2"/>
          <p:cNvSpPr/>
          <p:nvPr/>
        </p:nvSpPr>
        <p:spPr>
          <a:xfrm>
            <a:off x="457200" y="2743200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Asymmetric spread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Mis</a:t>
            </a:r>
            <a:r>
              <a:rPr lang="en" sz="1050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/Disinformation</a:t>
            </a:r>
            <a:r>
              <a:rPr b="0" i="0" lang="en" sz="10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 spreads more broadly among conservatives, even after correction.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274320" y="3749040"/>
            <a:ext cx="54900" cy="5943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2"/>
          <p:cNvSpPr/>
          <p:nvPr/>
        </p:nvSpPr>
        <p:spPr>
          <a:xfrm>
            <a:off x="457200" y="3749040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Asymmetric amplitude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Right-wing media's reach in the information landscape outsizes other sources.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2"/>
          <p:cNvSpPr/>
          <p:nvPr/>
        </p:nvSpPr>
        <p:spPr>
          <a:xfrm>
            <a:off x="274320" y="475488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DeVerna et al., 2024; Mosleh et al., 2024; Pérez-Escolar et al.,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2"/>
          <p:cNvSpPr/>
          <p:nvPr/>
        </p:nvSpPr>
        <p:spPr>
          <a:xfrm>
            <a:off x="4389120" y="365760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THE CLASSROOM RESPONSE</a:t>
            </a:r>
            <a:endParaRPr b="0" i="0" sz="11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2"/>
          <p:cNvSpPr/>
          <p:nvPr/>
        </p:nvSpPr>
        <p:spPr>
          <a:xfrm>
            <a:off x="4389120" y="914400"/>
            <a:ext cx="448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Teachers gravitate toward “neutral” pedagogical tools.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2"/>
          <p:cNvSpPr/>
          <p:nvPr/>
        </p:nvSpPr>
        <p:spPr>
          <a:xfrm>
            <a:off x="4389120" y="1737360"/>
            <a:ext cx="4480500" cy="1188600"/>
          </a:xfrm>
          <a:prstGeom prst="rect">
            <a:avLst/>
          </a:prstGeom>
          <a:solidFill>
            <a:srgbClr val="26394A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2"/>
          <p:cNvSpPr/>
          <p:nvPr/>
        </p:nvSpPr>
        <p:spPr>
          <a:xfrm>
            <a:off x="4572000" y="1828800"/>
            <a:ext cx="4114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SIFT &amp; Lateral Reading</a:t>
            </a:r>
            <a:endParaRPr b="0" i="0" sz="13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"It's not politically charged. It's just… very simple."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— Kyle (teacher, 21 years experience)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2"/>
          <p:cNvSpPr/>
          <p:nvPr/>
        </p:nvSpPr>
        <p:spPr>
          <a:xfrm>
            <a:off x="4389120" y="3063240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Why do teachers prefer procedurally neutral tools?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2"/>
          <p:cNvSpPr/>
          <p:nvPr/>
        </p:nvSpPr>
        <p:spPr>
          <a:xfrm>
            <a:off x="4389120" y="3520440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en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11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Avoid appearing partisan to parents, students, or administrators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2"/>
          <p:cNvSpPr/>
          <p:nvPr/>
        </p:nvSpPr>
        <p:spPr>
          <a:xfrm>
            <a:off x="4389120" y="3904488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en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11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Mitigate risk of charges of “indoctrination”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2"/>
          <p:cNvSpPr/>
          <p:nvPr/>
        </p:nvSpPr>
        <p:spPr>
          <a:xfrm>
            <a:off x="4389120" y="4288536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i="0" lang="en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Align with district directives to stay “middle-of-the-road”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62"/>
          <p:cNvCxnSpPr/>
          <p:nvPr/>
        </p:nvCxnSpPr>
        <p:spPr>
          <a:xfrm>
            <a:off x="4206240" y="274320"/>
            <a:ext cx="0" cy="4663500"/>
          </a:xfrm>
          <a:prstGeom prst="straightConnector1">
            <a:avLst/>
          </a:prstGeom>
          <a:noFill/>
          <a:ln cap="flat" cmpd="sng" w="12700">
            <a:solidFill>
              <a:srgbClr val="FFD82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5" name="Google Shape;395;p6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2"/>
          <p:cNvSpPr/>
          <p:nvPr/>
        </p:nvSpPr>
        <p:spPr>
          <a:xfrm>
            <a:off x="182880" y="4809744"/>
            <a:ext cx="8778300" cy="310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THE ASYMMETRY–NEUTRALITY PARADOX  |  Meuwissen, Stell, Hands &amp; Maslanka (2025)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2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11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2"/>
          <p:cNvSpPr/>
          <p:nvPr/>
        </p:nvSpPr>
        <p:spPr>
          <a:xfrm>
            <a:off x="182880" y="0"/>
            <a:ext cx="8778300" cy="292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THE ASYMMETRY – NEUTRALITY PARADOX</a:t>
            </a:r>
            <a:endParaRPr b="0" i="0" sz="10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3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139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3"/>
          <p:cNvSpPr/>
          <p:nvPr/>
        </p:nvSpPr>
        <p:spPr>
          <a:xfrm>
            <a:off x="0" y="1371600"/>
            <a:ext cx="9144000" cy="91500"/>
          </a:xfrm>
          <a:prstGeom prst="rect">
            <a:avLst/>
          </a:prstGeom>
          <a:solidFill>
            <a:srgbClr val="FFD8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3"/>
          <p:cNvSpPr/>
          <p:nvPr/>
        </p:nvSpPr>
        <p:spPr>
          <a:xfrm>
            <a:off x="457200" y="164592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1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3"/>
          <p:cNvSpPr/>
          <p:nvPr/>
        </p:nvSpPr>
        <p:spPr>
          <a:xfrm>
            <a:off x="457200" y="54864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Question for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63"/>
          <p:cNvSpPr/>
          <p:nvPr/>
        </p:nvSpPr>
        <p:spPr>
          <a:xfrm>
            <a:off x="548640" y="1691640"/>
            <a:ext cx="8046600" cy="2011800"/>
          </a:xfrm>
          <a:prstGeom prst="rect">
            <a:avLst/>
          </a:prstGeom>
          <a:solidFill>
            <a:srgbClr val="143C64"/>
          </a:solidFill>
          <a:ln>
            <a:noFill/>
          </a:ln>
          <a:effectLst>
            <a:outerShdw blurRad="1524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3"/>
          <p:cNvSpPr/>
          <p:nvPr/>
        </p:nvSpPr>
        <p:spPr>
          <a:xfrm>
            <a:off x="640080" y="1600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7200"/>
              <a:buFont typeface="Calibri"/>
              <a:buNone/>
            </a:pPr>
            <a:r>
              <a:rPr b="1" i="0" lang="en" sz="72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b="0" i="0" sz="7200" u="none" cap="none" strike="noStrike">
              <a:solidFill>
                <a:srgbClr val="FFD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3"/>
          <p:cNvSpPr/>
          <p:nvPr/>
        </p:nvSpPr>
        <p:spPr>
          <a:xfrm>
            <a:off x="1005840" y="1874520"/>
            <a:ext cx="7315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you combat mis/disinformation and seek to be neutral in the classroom?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3"/>
          <p:cNvSpPr/>
          <p:nvPr/>
        </p:nvSpPr>
        <p:spPr>
          <a:xfrm>
            <a:off x="320040" y="3931920"/>
            <a:ext cx="2743200" cy="960000"/>
          </a:xfrm>
          <a:prstGeom prst="rect">
            <a:avLst/>
          </a:prstGeom>
          <a:solidFill>
            <a:srgbClr val="11399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3"/>
          <p:cNvSpPr/>
          <p:nvPr/>
        </p:nvSpPr>
        <p:spPr>
          <a:xfrm>
            <a:off x="429768" y="3977640"/>
            <a:ext cx="2523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Consider: </a:t>
            </a:r>
            <a:r>
              <a:rPr b="0" i="0" lang="en" sz="9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political neutrality and epistemological neutrality?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3"/>
          <p:cNvSpPr/>
          <p:nvPr/>
        </p:nvSpPr>
        <p:spPr>
          <a:xfrm>
            <a:off x="3246120" y="3931920"/>
            <a:ext cx="2743200" cy="960000"/>
          </a:xfrm>
          <a:prstGeom prst="rect">
            <a:avLst/>
          </a:prstGeom>
          <a:solidFill>
            <a:srgbClr val="2E4057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3"/>
          <p:cNvSpPr/>
          <p:nvPr/>
        </p:nvSpPr>
        <p:spPr>
          <a:xfrm>
            <a:off x="3355848" y="3977640"/>
            <a:ext cx="2523600" cy="868800"/>
          </a:xfrm>
          <a:prstGeom prst="rect">
            <a:avLst/>
          </a:prstGeom>
          <a:solidFill>
            <a:srgbClr val="113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Consider: </a:t>
            </a:r>
            <a:r>
              <a:rPr b="0" i="0" lang="en" sz="9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Does treating MDI as a "both sides" issue misrepresent the actual information landscape?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3"/>
          <p:cNvSpPr/>
          <p:nvPr/>
        </p:nvSpPr>
        <p:spPr>
          <a:xfrm>
            <a:off x="6172200" y="3931920"/>
            <a:ext cx="2743200" cy="960000"/>
          </a:xfrm>
          <a:prstGeom prst="rect">
            <a:avLst/>
          </a:prstGeom>
          <a:solidFill>
            <a:srgbClr val="2E4057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3"/>
          <p:cNvSpPr/>
          <p:nvPr/>
        </p:nvSpPr>
        <p:spPr>
          <a:xfrm>
            <a:off x="6281928" y="3977640"/>
            <a:ext cx="2523600" cy="868800"/>
          </a:xfrm>
          <a:prstGeom prst="rect">
            <a:avLst/>
          </a:prstGeom>
          <a:solidFill>
            <a:srgbClr val="113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82B"/>
                </a:solidFill>
                <a:latin typeface="Calibri"/>
                <a:ea typeface="Calibri"/>
                <a:cs typeface="Calibri"/>
                <a:sym typeface="Calibri"/>
              </a:rPr>
              <a:t>Consider: </a:t>
            </a:r>
            <a:r>
              <a:rPr b="0" i="0" lang="en" sz="950" u="none" cap="none" strike="noStrike">
                <a:solidFill>
                  <a:srgbClr val="A8C5DA"/>
                </a:solidFill>
                <a:latin typeface="Calibri"/>
                <a:ea typeface="Calibri"/>
                <a:cs typeface="Calibri"/>
                <a:sym typeface="Calibri"/>
              </a:rPr>
              <a:t>What risks do teachers take when they choose neutrality — and when they don't?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3"/>
          <p:cNvSpPr/>
          <p:nvPr/>
        </p:nvSpPr>
        <p:spPr>
          <a:xfrm>
            <a:off x="365760" y="4919472"/>
            <a:ext cx="8412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Context: Meuwissen, Stell, Hands &amp; Maslanka (2025) — Teachers' Navigation of Professional-Ecological Conditions Associated with Combating Mis/Disinformation in Secondary Classrooms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4"/>
          <p:cNvSpPr txBox="1"/>
          <p:nvPr>
            <p:ph type="title"/>
          </p:nvPr>
        </p:nvSpPr>
        <p:spPr>
          <a:xfrm>
            <a:off x="1682036" y="1183490"/>
            <a:ext cx="56418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Reflections, Questions, Connections?</a:t>
            </a:r>
            <a:endParaRPr/>
          </a:p>
        </p:txBody>
      </p:sp>
      <p:sp>
        <p:nvSpPr>
          <p:cNvPr id="423" name="Google Shape;423;p64"/>
          <p:cNvSpPr txBox="1"/>
          <p:nvPr/>
        </p:nvSpPr>
        <p:spPr>
          <a:xfrm>
            <a:off x="780525" y="3682150"/>
            <a:ext cx="74448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2060"/>
                </a:solidFill>
              </a:rPr>
              <a:t>Contact us at:</a:t>
            </a:r>
            <a:endParaRPr sz="2200">
              <a:solidFill>
                <a:srgbClr val="00206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2060"/>
                </a:solidFill>
              </a:rPr>
              <a:t>Amy Stell </a:t>
            </a:r>
            <a:r>
              <a:rPr lang="en" sz="2200" u="sng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astell@u.rochester.edu</a:t>
            </a:r>
            <a:endParaRPr sz="2200">
              <a:solidFill>
                <a:srgbClr val="00206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2060"/>
                </a:solidFill>
              </a:rPr>
              <a:t>Luke Hands </a:t>
            </a:r>
            <a:r>
              <a:rPr lang="en" sz="2200" u="sng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lhands@u.rochester.edu</a:t>
            </a:r>
            <a:r>
              <a:rPr lang="en" sz="2200">
                <a:solidFill>
                  <a:srgbClr val="002060"/>
                </a:solidFill>
              </a:rPr>
              <a:t> </a:t>
            </a:r>
            <a:endParaRPr sz="2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19C1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